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varScale="1">
        <p:scale>
          <a:sx n="150" d="100"/>
          <a:sy n="150" d="100"/>
        </p:scale>
        <p:origin x="474" y="13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178A5B-E009-4E5E-B859-30CB0E06CCF7}" type="datetimeFigureOut">
              <a:rPr lang="en-US" smtClean="0"/>
              <a:t>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59E50A-5A59-4C3B-B60D-2DFDC23DC687}" type="slidenum">
              <a:rPr lang="en-US" smtClean="0"/>
              <a:t>‹#›</a:t>
            </a:fld>
            <a:endParaRPr lang="en-US"/>
          </a:p>
        </p:txBody>
      </p:sp>
    </p:spTree>
    <p:extLst>
      <p:ext uri="{BB962C8B-B14F-4D97-AF65-F5344CB8AC3E}">
        <p14:creationId xmlns:p14="http://schemas.microsoft.com/office/powerpoint/2010/main" val="2535494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E59E50A-5A59-4C3B-B60D-2DFDC23DC687}" type="slidenum">
              <a:rPr lang="en-US" smtClean="0"/>
              <a:t>1</a:t>
            </a:fld>
            <a:endParaRPr lang="en-US"/>
          </a:p>
        </p:txBody>
      </p:sp>
    </p:spTree>
    <p:extLst>
      <p:ext uri="{BB962C8B-B14F-4D97-AF65-F5344CB8AC3E}">
        <p14:creationId xmlns:p14="http://schemas.microsoft.com/office/powerpoint/2010/main" val="3050345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645F-05B7-F24F-CDD8-5E8E9082FA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484672-0737-76AD-FF81-44FBF423D7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517591-FEE5-D532-20D6-863B7FB6D0E7}"/>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5" name="Footer Placeholder 4">
            <a:extLst>
              <a:ext uri="{FF2B5EF4-FFF2-40B4-BE49-F238E27FC236}">
                <a16:creationId xmlns:a16="http://schemas.microsoft.com/office/drawing/2014/main" id="{869A5618-C4FE-75BB-3246-1AB4D51E1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666609-3D86-1B53-0F17-5D39E9E3910B}"/>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3301932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1D86C-5566-4650-8EE8-BCDBEA42DB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4F0224-CB8A-B54D-9BF4-309BF1B3C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2DB6CC-3E61-059C-4808-93BA78A6BB58}"/>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5" name="Footer Placeholder 4">
            <a:extLst>
              <a:ext uri="{FF2B5EF4-FFF2-40B4-BE49-F238E27FC236}">
                <a16:creationId xmlns:a16="http://schemas.microsoft.com/office/drawing/2014/main" id="{583BADBB-4FDB-5810-B622-4DA916E669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05B44C-5E8B-1320-CAFC-6E74B3A52B1F}"/>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2569129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23F39-29B0-A1AB-319C-12AAAA6814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236DBF-5EF9-5649-EF2B-106AE65615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16595A-A501-AB0E-9733-85ED65FDB545}"/>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5" name="Footer Placeholder 4">
            <a:extLst>
              <a:ext uri="{FF2B5EF4-FFF2-40B4-BE49-F238E27FC236}">
                <a16:creationId xmlns:a16="http://schemas.microsoft.com/office/drawing/2014/main" id="{12E0B87E-7530-A772-2438-426D9D83A3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48E8E7-BF3A-8CE5-CB07-7CEF6BEE636D}"/>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17352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0BA0F-C80F-2E74-DE62-8B51645471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35BFB2-1584-EEAC-6B09-6E1D73F5D2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5EB2EA-04A8-C452-F447-BC5415D139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0FECDB-911D-9BDF-7696-86D8404E93E0}"/>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6" name="Footer Placeholder 5">
            <a:extLst>
              <a:ext uri="{FF2B5EF4-FFF2-40B4-BE49-F238E27FC236}">
                <a16:creationId xmlns:a16="http://schemas.microsoft.com/office/drawing/2014/main" id="{ED95AC80-8B63-4EA0-5C4C-6643B2E7C0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4E8D5C-6E08-7424-88C2-4496D2079544}"/>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559240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0EDE9-EE4F-C8AE-AB26-AE4C40AB72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D5FA43-F45A-EAB7-DDFF-D56AE8345D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DE3128-8400-A764-FF5D-6084C5B25D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D46DBD-501E-D269-71E6-5ECCC91FFE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68872F-1677-3BF6-2243-101A2B2EC8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CAC8DA-249B-4780-C429-91503D3AF667}"/>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8" name="Footer Placeholder 7">
            <a:extLst>
              <a:ext uri="{FF2B5EF4-FFF2-40B4-BE49-F238E27FC236}">
                <a16:creationId xmlns:a16="http://schemas.microsoft.com/office/drawing/2014/main" id="{83AD256E-BFF0-7256-8D64-5DF66432D4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2C5096-030E-7AC1-4294-1EED154B5EC2}"/>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520384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D5391-03CD-CFBE-974A-1B0F061B06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FFF717-62BC-D91D-C8CE-7BCBE6840974}"/>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4" name="Footer Placeholder 3">
            <a:extLst>
              <a:ext uri="{FF2B5EF4-FFF2-40B4-BE49-F238E27FC236}">
                <a16:creationId xmlns:a16="http://schemas.microsoft.com/office/drawing/2014/main" id="{B05659F0-310C-B8ED-E7BA-E62966408A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D564E1-5A98-84BF-736C-3343941EF496}"/>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2338768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30AC7-0F58-7052-1F51-7482B8EBE487}"/>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3" name="Footer Placeholder 2">
            <a:extLst>
              <a:ext uri="{FF2B5EF4-FFF2-40B4-BE49-F238E27FC236}">
                <a16:creationId xmlns:a16="http://schemas.microsoft.com/office/drawing/2014/main" id="{21765AA6-14A8-0D25-80E2-F20E05D031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FC2F94-258F-073E-E4D7-8B0A3B6AA412}"/>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3029235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908E9-E3CE-B00D-B89F-FD4549DF35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539F9E-AB39-143C-F354-D547C86C6E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D489D3-05EC-6F9C-7AF5-EC5DC360B5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FE41E3-4BFE-C01D-00EF-143732E4A2A9}"/>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6" name="Footer Placeholder 5">
            <a:extLst>
              <a:ext uri="{FF2B5EF4-FFF2-40B4-BE49-F238E27FC236}">
                <a16:creationId xmlns:a16="http://schemas.microsoft.com/office/drawing/2014/main" id="{EA6899CC-6E3A-DC98-FA75-E9FBEEBE8C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3A517A-31B6-617D-29D0-F89A47DEEE12}"/>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1806552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9474-114D-C43F-A0D4-88246C0D24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8BDB64-0BD5-FA36-2477-EEF4050580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1FCC14-FE46-8A51-FEB7-3DBA9A19AC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DDB464-2B88-0A46-D246-24255FD37370}"/>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6" name="Footer Placeholder 5">
            <a:extLst>
              <a:ext uri="{FF2B5EF4-FFF2-40B4-BE49-F238E27FC236}">
                <a16:creationId xmlns:a16="http://schemas.microsoft.com/office/drawing/2014/main" id="{3A94BFB7-A6CD-508D-7045-4450343D01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C6A502-4347-DC1B-8F43-F8FBC32F1AEB}"/>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2504745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8FF1-9CE3-130C-DDFB-B9F47B7C76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F9A873-8BBE-BFA9-01C0-EE84F77CA3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578443-C5FA-B5EC-E9C0-CCE684C3D6AC}"/>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5" name="Footer Placeholder 4">
            <a:extLst>
              <a:ext uri="{FF2B5EF4-FFF2-40B4-BE49-F238E27FC236}">
                <a16:creationId xmlns:a16="http://schemas.microsoft.com/office/drawing/2014/main" id="{1215893C-61E8-F3D7-FD59-BA2DFE30C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E74AE7-44BA-77B2-8D81-9DBDD2AC7BB3}"/>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689861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07E8CA-1BA9-B755-5037-47CD389251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EBCED1-B04F-AE5A-D632-7151A1B186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87E2E5-93AF-19EF-D9EB-D06206D1637D}"/>
              </a:ext>
            </a:extLst>
          </p:cNvPr>
          <p:cNvSpPr>
            <a:spLocks noGrp="1"/>
          </p:cNvSpPr>
          <p:nvPr>
            <p:ph type="dt" sz="half" idx="10"/>
          </p:nvPr>
        </p:nvSpPr>
        <p:spPr/>
        <p:txBody>
          <a:bodyPr/>
          <a:lstStyle/>
          <a:p>
            <a:fld id="{27BA7CA2-7AFB-4A05-81CC-03597E8E30CD}" type="datetimeFigureOut">
              <a:rPr lang="en-US" smtClean="0"/>
              <a:t>2/18/2025</a:t>
            </a:fld>
            <a:endParaRPr lang="en-US"/>
          </a:p>
        </p:txBody>
      </p:sp>
      <p:sp>
        <p:nvSpPr>
          <p:cNvPr id="5" name="Footer Placeholder 4">
            <a:extLst>
              <a:ext uri="{FF2B5EF4-FFF2-40B4-BE49-F238E27FC236}">
                <a16:creationId xmlns:a16="http://schemas.microsoft.com/office/drawing/2014/main" id="{FC2605C6-0E73-53F1-E5D8-88BC770E56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C52A42-4B00-4F1A-112F-39B4D42ADA5B}"/>
              </a:ext>
            </a:extLst>
          </p:cNvPr>
          <p:cNvSpPr>
            <a:spLocks noGrp="1"/>
          </p:cNvSpPr>
          <p:nvPr>
            <p:ph type="sldNum" sz="quarter" idx="12"/>
          </p:nvPr>
        </p:nvSpPr>
        <p:spPr/>
        <p:txBody>
          <a:bodyPr/>
          <a:lstStyle/>
          <a:p>
            <a:fld id="{488F4A85-647D-4659-95DA-6735B3BBA940}" type="slidenum">
              <a:rPr lang="en-US" smtClean="0"/>
              <a:t>‹#›</a:t>
            </a:fld>
            <a:endParaRPr lang="en-US"/>
          </a:p>
        </p:txBody>
      </p:sp>
    </p:spTree>
    <p:extLst>
      <p:ext uri="{BB962C8B-B14F-4D97-AF65-F5344CB8AC3E}">
        <p14:creationId xmlns:p14="http://schemas.microsoft.com/office/powerpoint/2010/main" val="4264597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A5276-B98E-330D-C983-C7CB4F2C71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AF000D-5927-FE0A-7835-90FF6DB8DA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2DD49D-A819-2BB8-6AC5-D92F141DCA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BA7CA2-7AFB-4A05-81CC-03597E8E30CD}" type="datetimeFigureOut">
              <a:rPr lang="en-US" smtClean="0"/>
              <a:t>2/18/2025</a:t>
            </a:fld>
            <a:endParaRPr lang="en-US"/>
          </a:p>
        </p:txBody>
      </p:sp>
      <p:sp>
        <p:nvSpPr>
          <p:cNvPr id="5" name="Footer Placeholder 4">
            <a:extLst>
              <a:ext uri="{FF2B5EF4-FFF2-40B4-BE49-F238E27FC236}">
                <a16:creationId xmlns:a16="http://schemas.microsoft.com/office/drawing/2014/main" id="{20322754-D137-60D5-6EB8-B8D5829E5A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885AA4D-EDE2-5347-C638-47325C4EEF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8F4A85-647D-4659-95DA-6735B3BBA940}" type="slidenum">
              <a:rPr lang="en-US" smtClean="0"/>
              <a:t>‹#›</a:t>
            </a:fld>
            <a:endParaRPr lang="en-US"/>
          </a:p>
        </p:txBody>
      </p:sp>
    </p:spTree>
    <p:extLst>
      <p:ext uri="{BB962C8B-B14F-4D97-AF65-F5344CB8AC3E}">
        <p14:creationId xmlns:p14="http://schemas.microsoft.com/office/powerpoint/2010/main" val="3534714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hyperlink" Target="https://www.sciencedirect.com/topics/computer-science/black-hole-attack" TargetMode="External"/><Relationship Id="rId2" Type="http://schemas.openxmlformats.org/officeDocument/2006/relationships/hyperlink" Target="https://cert.europa.eu/publications/security-advisories/2016-141/pdf" TargetMode="External"/><Relationship Id="rId1" Type="http://schemas.openxmlformats.org/officeDocument/2006/relationships/slideLayout" Target="../slideLayouts/slideLayout1.xml"/><Relationship Id="rId6" Type="http://schemas.openxmlformats.org/officeDocument/2006/relationships/hyperlink" Target="https://ms.codes/blogs/internet-security/black-hole-attack-in-network-security" TargetMode="External"/><Relationship Id="rId5" Type="http://schemas.openxmlformats.org/officeDocument/2006/relationships/hyperlink" Target="https://edubirdie.com/examples/black-hole-attack-its-detection-and-mitigation/" TargetMode="External"/><Relationship Id="rId4" Type="http://schemas.openxmlformats.org/officeDocument/2006/relationships/hyperlink" Target="https://www.gremlin.com/blog/getting-started-with-blackhole-attack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042BC7E5-76DB-4826-8C07-4A49B6353F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479558"/>
            <a:ext cx="1861854" cy="717514"/>
            <a:chOff x="0" y="1479558"/>
            <a:chExt cx="1861854" cy="717514"/>
          </a:xfrm>
          <a:solidFill>
            <a:schemeClr val="bg1"/>
          </a:solidFill>
        </p:grpSpPr>
        <p:sp>
          <p:nvSpPr>
            <p:cNvPr id="11" name="Freeform: Shape 10">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4" name="Freeform: Shape 13">
            <a:extLst>
              <a:ext uri="{FF2B5EF4-FFF2-40B4-BE49-F238E27FC236}">
                <a16:creationId xmlns:a16="http://schemas.microsoft.com/office/drawing/2014/main" id="{498F8FF6-43B4-494A-AF8F-123A4983E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18992" y="-34538"/>
            <a:ext cx="6655405" cy="633547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B06059C-C357-4011-82B9-9C0106301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5194" y="-23905"/>
            <a:ext cx="6705251" cy="6318526"/>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AFEC601-A132-47EE-B0C2-B38ACD9FC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6886" y="-23905"/>
            <a:ext cx="6705251" cy="6215019"/>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EFD7E4-9EFF-BE21-8DF3-E52770159C57}"/>
              </a:ext>
            </a:extLst>
          </p:cNvPr>
          <p:cNvSpPr>
            <a:spLocks noGrp="1"/>
          </p:cNvSpPr>
          <p:nvPr>
            <p:ph type="ctrTitle"/>
          </p:nvPr>
        </p:nvSpPr>
        <p:spPr>
          <a:xfrm>
            <a:off x="2242409" y="895483"/>
            <a:ext cx="5786232" cy="3011190"/>
          </a:xfrm>
        </p:spPr>
        <p:txBody>
          <a:bodyPr>
            <a:normAutofit/>
          </a:bodyPr>
          <a:lstStyle/>
          <a:p>
            <a:r>
              <a:rPr lang="en-US" sz="5400" dirty="0">
                <a:solidFill>
                  <a:schemeClr val="bg1"/>
                </a:solidFill>
              </a:rPr>
              <a:t>Blackhole Attacks</a:t>
            </a:r>
          </a:p>
        </p:txBody>
      </p:sp>
      <p:sp>
        <p:nvSpPr>
          <p:cNvPr id="3" name="Subtitle 2">
            <a:extLst>
              <a:ext uri="{FF2B5EF4-FFF2-40B4-BE49-F238E27FC236}">
                <a16:creationId xmlns:a16="http://schemas.microsoft.com/office/drawing/2014/main" id="{D419A310-737D-B346-2B14-E5854D32DB5C}"/>
              </a:ext>
            </a:extLst>
          </p:cNvPr>
          <p:cNvSpPr>
            <a:spLocks noGrp="1"/>
          </p:cNvSpPr>
          <p:nvPr>
            <p:ph type="subTitle" idx="1"/>
          </p:nvPr>
        </p:nvSpPr>
        <p:spPr>
          <a:xfrm>
            <a:off x="2466270" y="4142096"/>
            <a:ext cx="5338511" cy="1055142"/>
          </a:xfrm>
        </p:spPr>
        <p:txBody>
          <a:bodyPr>
            <a:normAutofit/>
          </a:bodyPr>
          <a:lstStyle/>
          <a:p>
            <a:r>
              <a:rPr lang="en-US" sz="2000" dirty="0">
                <a:solidFill>
                  <a:schemeClr val="bg1"/>
                </a:solidFill>
              </a:rPr>
              <a:t>James Stallkamp</a:t>
            </a:r>
          </a:p>
        </p:txBody>
      </p:sp>
      <p:sp>
        <p:nvSpPr>
          <p:cNvPr id="20"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218E095B-4870-4AD5-9C41-C16D59523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4"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83101" y="3578317"/>
            <a:ext cx="1054466" cy="469689"/>
            <a:chOff x="9841624" y="4115729"/>
            <a:chExt cx="602169" cy="268223"/>
          </a:xfrm>
          <a:solidFill>
            <a:schemeClr val="bg1"/>
          </a:solidFill>
        </p:grpSpPr>
        <p:sp>
          <p:nvSpPr>
            <p:cNvPr id="25" name="Freeform: Shape 24">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1" name="Oval 30">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Oval 32">
            <a:extLst>
              <a:ext uri="{FF2B5EF4-FFF2-40B4-BE49-F238E27FC236}">
                <a16:creationId xmlns:a16="http://schemas.microsoft.com/office/drawing/2014/main" id="{BE8CB2F0-2F5A-4EBD-B214-E0309C31F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Freeform: Shape 34">
            <a:extLst>
              <a:ext uri="{FF2B5EF4-FFF2-40B4-BE49-F238E27FC236}">
                <a16:creationId xmlns:a16="http://schemas.microsoft.com/office/drawing/2014/main" id="{FFD3887D-244B-4EC4-9208-E304984C5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7" name="Freeform: Shape 36">
            <a:extLst>
              <a:ext uri="{FF2B5EF4-FFF2-40B4-BE49-F238E27FC236}">
                <a16:creationId xmlns:a16="http://schemas.microsoft.com/office/drawing/2014/main" id="{97224C31-855E-4593-8A58-5B2B0CC4F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1809349245"/>
      </p:ext>
    </p:extLst>
  </p:cSld>
  <p:clrMapOvr>
    <a:masterClrMapping/>
  </p:clrMapOvr>
  <mc:AlternateContent xmlns:mc="http://schemas.openxmlformats.org/markup-compatibility/2006" xmlns:p14="http://schemas.microsoft.com/office/powerpoint/2010/main">
    <mc:Choice Requires="p14">
      <p:transition spd="slow" p14:dur="2000" advTm="3701"/>
    </mc:Choice>
    <mc:Fallback xmlns="">
      <p:transition spd="slow" advTm="370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4EACE9-942C-0ED6-7BF0-DABD680CDC7F}"/>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39">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56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42" name="Freeform: Shape 41">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6429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44" name="Freeform: Shape 43">
            <a:extLst>
              <a:ext uri="{FF2B5EF4-FFF2-40B4-BE49-F238E27FC236}">
                <a16:creationId xmlns:a16="http://schemas.microsoft.com/office/drawing/2014/main" id="{8CF5E676-CA04-4CED-9F1E-5026ED66E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782347" cy="2943932"/>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46" name="Freeform: Shape 45">
            <a:extLst>
              <a:ext uri="{FF2B5EF4-FFF2-40B4-BE49-F238E27FC236}">
                <a16:creationId xmlns:a16="http://schemas.microsoft.com/office/drawing/2014/main" id="{6BA9E676-A8FC-4C2F-8D78-C13ED8ABD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782347" cy="2943932"/>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48" name="Freeform: Shape 47">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5207" y="4529611"/>
            <a:ext cx="2426793" cy="2328389"/>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0" name="Freeform: Shape 49">
            <a:extLst>
              <a:ext uri="{FF2B5EF4-FFF2-40B4-BE49-F238E27FC236}">
                <a16:creationId xmlns:a16="http://schemas.microsoft.com/office/drawing/2014/main" id="{EECD79B5-5FC5-495F-BFD6-346C16E78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5207" y="4529611"/>
            <a:ext cx="2426793" cy="2328389"/>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Rectangle 51">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21898" y="819446"/>
            <a:ext cx="8751370" cy="5402463"/>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2D9D048-3063-435A-8C23-26C1907E9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21898" y="819446"/>
            <a:ext cx="8751370" cy="5402463"/>
          </a:xfrm>
          <a:prstGeom prst="rect">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8DE96824-E506-4448-8704-5EC7BF7BC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20315" y="727769"/>
            <a:ext cx="8751370" cy="5402463"/>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1D5A36-52E5-8488-B53E-3B40885ACF96}"/>
              </a:ext>
            </a:extLst>
          </p:cNvPr>
          <p:cNvSpPr>
            <a:spLocks noGrp="1"/>
          </p:cNvSpPr>
          <p:nvPr>
            <p:ph type="ctrTitle"/>
          </p:nvPr>
        </p:nvSpPr>
        <p:spPr>
          <a:xfrm>
            <a:off x="2381534" y="1344304"/>
            <a:ext cx="7451678" cy="497771"/>
          </a:xfrm>
        </p:spPr>
        <p:txBody>
          <a:bodyPr>
            <a:normAutofit fontScale="90000"/>
          </a:bodyPr>
          <a:lstStyle/>
          <a:p>
            <a:r>
              <a:rPr lang="en-US" sz="5400" dirty="0">
                <a:solidFill>
                  <a:schemeClr val="bg1"/>
                </a:solidFill>
              </a:rPr>
              <a:t>Type of Attack</a:t>
            </a:r>
          </a:p>
        </p:txBody>
      </p:sp>
      <p:sp>
        <p:nvSpPr>
          <p:cNvPr id="3" name="Subtitle 2">
            <a:extLst>
              <a:ext uri="{FF2B5EF4-FFF2-40B4-BE49-F238E27FC236}">
                <a16:creationId xmlns:a16="http://schemas.microsoft.com/office/drawing/2014/main" id="{F6C99D44-FB80-7791-CB59-D1DF97307506}"/>
              </a:ext>
            </a:extLst>
          </p:cNvPr>
          <p:cNvSpPr>
            <a:spLocks noGrp="1"/>
          </p:cNvSpPr>
          <p:nvPr>
            <p:ph type="subTitle" idx="1"/>
          </p:nvPr>
        </p:nvSpPr>
        <p:spPr>
          <a:xfrm>
            <a:off x="2782347" y="2227877"/>
            <a:ext cx="6418471" cy="1432109"/>
          </a:xfrm>
        </p:spPr>
        <p:txBody>
          <a:bodyPr>
            <a:normAutofit fontScale="85000" lnSpcReduction="10000"/>
          </a:bodyPr>
          <a:lstStyle/>
          <a:p>
            <a:r>
              <a:rPr lang="en-US" sz="2000" dirty="0">
                <a:solidFill>
                  <a:schemeClr val="bg1"/>
                </a:solidFill>
              </a:rPr>
              <a:t>A blackhole attack is a network layer attack in which malicious nodes advertise false information about the path to a destination.</a:t>
            </a:r>
          </a:p>
          <a:p>
            <a:r>
              <a:rPr lang="en-US" sz="2000" dirty="0">
                <a:solidFill>
                  <a:schemeClr val="bg1"/>
                </a:solidFill>
              </a:rPr>
              <a:t>Results in packets being dropped.</a:t>
            </a:r>
          </a:p>
          <a:p>
            <a:r>
              <a:rPr lang="en-US" sz="2000" dirty="0">
                <a:solidFill>
                  <a:schemeClr val="bg1"/>
                </a:solidFill>
              </a:rPr>
              <a:t>Particularly used in wireless and mobile networks or other decentralized networks</a:t>
            </a:r>
          </a:p>
        </p:txBody>
      </p:sp>
      <p:sp>
        <p:nvSpPr>
          <p:cNvPr id="58" name="Oval 57">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9446" y="4786746"/>
            <a:ext cx="620727" cy="620727"/>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0" name="Oval 59">
            <a:extLst>
              <a:ext uri="{FF2B5EF4-FFF2-40B4-BE49-F238E27FC236}">
                <a16:creationId xmlns:a16="http://schemas.microsoft.com/office/drawing/2014/main" id="{B6C541AE-9B02-44C0-B8C6-B2DEA7ED3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9446" y="4786746"/>
            <a:ext cx="620727" cy="620727"/>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783243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DD1ACE-232B-DDDE-F4A8-4CC5CC0B883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042BC7E5-76DB-4826-8C07-4A49B6353F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479558"/>
            <a:ext cx="1861854" cy="717514"/>
            <a:chOff x="0" y="1479558"/>
            <a:chExt cx="1861854" cy="717514"/>
          </a:xfrm>
          <a:solidFill>
            <a:schemeClr val="bg1"/>
          </a:solidFill>
        </p:grpSpPr>
        <p:sp>
          <p:nvSpPr>
            <p:cNvPr id="11" name="Freeform: Shape 10">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4" name="Freeform: Shape 13">
            <a:extLst>
              <a:ext uri="{FF2B5EF4-FFF2-40B4-BE49-F238E27FC236}">
                <a16:creationId xmlns:a16="http://schemas.microsoft.com/office/drawing/2014/main" id="{498F8FF6-43B4-494A-AF8F-123A4983E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18992" y="-34538"/>
            <a:ext cx="6655405" cy="633547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B06059C-C357-4011-82B9-9C0106301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5194" y="-23905"/>
            <a:ext cx="6705251" cy="6318526"/>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AFEC601-A132-47EE-B0C2-B38ACD9FC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6886" y="-23905"/>
            <a:ext cx="6705251" cy="6215019"/>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E8A9FA-3E15-D0B9-0D97-AB576842802C}"/>
              </a:ext>
            </a:extLst>
          </p:cNvPr>
          <p:cNvSpPr>
            <a:spLocks noGrp="1"/>
          </p:cNvSpPr>
          <p:nvPr>
            <p:ph type="ctrTitle"/>
          </p:nvPr>
        </p:nvSpPr>
        <p:spPr>
          <a:xfrm>
            <a:off x="2242409" y="895483"/>
            <a:ext cx="5786232" cy="861854"/>
          </a:xfrm>
        </p:spPr>
        <p:txBody>
          <a:bodyPr>
            <a:normAutofit/>
          </a:bodyPr>
          <a:lstStyle/>
          <a:p>
            <a:r>
              <a:rPr lang="en-US" sz="5400" dirty="0">
                <a:solidFill>
                  <a:schemeClr val="bg1"/>
                </a:solidFill>
              </a:rPr>
              <a:t>How it works</a:t>
            </a:r>
          </a:p>
        </p:txBody>
      </p:sp>
      <p:sp>
        <p:nvSpPr>
          <p:cNvPr id="3" name="Subtitle 2">
            <a:extLst>
              <a:ext uri="{FF2B5EF4-FFF2-40B4-BE49-F238E27FC236}">
                <a16:creationId xmlns:a16="http://schemas.microsoft.com/office/drawing/2014/main" id="{8E5DB428-F94A-C39B-978B-72F91C4C0D29}"/>
              </a:ext>
            </a:extLst>
          </p:cNvPr>
          <p:cNvSpPr>
            <a:spLocks noGrp="1"/>
          </p:cNvSpPr>
          <p:nvPr>
            <p:ph type="subTitle" idx="1"/>
          </p:nvPr>
        </p:nvSpPr>
        <p:spPr>
          <a:xfrm>
            <a:off x="2466270" y="1757337"/>
            <a:ext cx="5338511" cy="3439901"/>
          </a:xfrm>
        </p:spPr>
        <p:txBody>
          <a:bodyPr>
            <a:normAutofit/>
          </a:bodyPr>
          <a:lstStyle/>
          <a:p>
            <a:pPr marL="457200" indent="-457200">
              <a:buFont typeface="+mj-lt"/>
              <a:buAutoNum type="arabicPeriod"/>
            </a:pPr>
            <a:r>
              <a:rPr lang="en-US" sz="2000" dirty="0">
                <a:solidFill>
                  <a:schemeClr val="bg1"/>
                </a:solidFill>
              </a:rPr>
              <a:t>Node Infiltration</a:t>
            </a:r>
          </a:p>
          <a:p>
            <a:pPr marL="457200" indent="-457200">
              <a:buFont typeface="+mj-lt"/>
              <a:buAutoNum type="arabicPeriod"/>
            </a:pPr>
            <a:r>
              <a:rPr lang="en-US" sz="2000" dirty="0">
                <a:solidFill>
                  <a:schemeClr val="bg1"/>
                </a:solidFill>
              </a:rPr>
              <a:t>Route Manipulation</a:t>
            </a:r>
          </a:p>
          <a:p>
            <a:pPr marL="457200" indent="-457200">
              <a:buFont typeface="+mj-lt"/>
              <a:buAutoNum type="arabicPeriod"/>
            </a:pPr>
            <a:r>
              <a:rPr lang="en-US" sz="2000" dirty="0">
                <a:solidFill>
                  <a:schemeClr val="bg1"/>
                </a:solidFill>
              </a:rPr>
              <a:t>Packet Interception</a:t>
            </a:r>
          </a:p>
          <a:p>
            <a:pPr marL="457200" indent="-457200">
              <a:buFont typeface="+mj-lt"/>
              <a:buAutoNum type="arabicPeriod"/>
            </a:pPr>
            <a:r>
              <a:rPr lang="en-US" sz="2000" dirty="0">
                <a:solidFill>
                  <a:schemeClr val="bg1"/>
                </a:solidFill>
              </a:rPr>
              <a:t>Packet Dropping</a:t>
            </a:r>
          </a:p>
          <a:p>
            <a:pPr marL="457200" indent="-457200">
              <a:buFont typeface="+mj-lt"/>
              <a:buAutoNum type="arabicPeriod"/>
            </a:pPr>
            <a:r>
              <a:rPr lang="en-US" sz="2000" dirty="0">
                <a:solidFill>
                  <a:schemeClr val="bg1"/>
                </a:solidFill>
              </a:rPr>
              <a:t>Network Disruption</a:t>
            </a:r>
          </a:p>
          <a:p>
            <a:r>
              <a:rPr lang="en-US" sz="2000" dirty="0">
                <a:solidFill>
                  <a:schemeClr val="bg1"/>
                </a:solidFill>
              </a:rPr>
              <a:t>Results:</a:t>
            </a:r>
          </a:p>
          <a:p>
            <a:r>
              <a:rPr lang="en-US" sz="2000" dirty="0">
                <a:solidFill>
                  <a:schemeClr val="bg1"/>
                </a:solidFill>
              </a:rPr>
              <a:t>Data loss, Latency, Network separation, Exposure of information</a:t>
            </a:r>
          </a:p>
        </p:txBody>
      </p:sp>
      <p:sp>
        <p:nvSpPr>
          <p:cNvPr id="20"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218E095B-4870-4AD5-9C41-C16D59523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4"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83101" y="3578317"/>
            <a:ext cx="1054466" cy="469689"/>
            <a:chOff x="9841624" y="4115729"/>
            <a:chExt cx="602169" cy="268223"/>
          </a:xfrm>
          <a:solidFill>
            <a:schemeClr val="bg1"/>
          </a:solidFill>
        </p:grpSpPr>
        <p:sp>
          <p:nvSpPr>
            <p:cNvPr id="25" name="Freeform: Shape 24">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1" name="Oval 30">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Oval 32">
            <a:extLst>
              <a:ext uri="{FF2B5EF4-FFF2-40B4-BE49-F238E27FC236}">
                <a16:creationId xmlns:a16="http://schemas.microsoft.com/office/drawing/2014/main" id="{BE8CB2F0-2F5A-4EBD-B214-E0309C31F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Freeform: Shape 34">
            <a:extLst>
              <a:ext uri="{FF2B5EF4-FFF2-40B4-BE49-F238E27FC236}">
                <a16:creationId xmlns:a16="http://schemas.microsoft.com/office/drawing/2014/main" id="{FFD3887D-244B-4EC4-9208-E304984C5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7" name="Freeform: Shape 36">
            <a:extLst>
              <a:ext uri="{FF2B5EF4-FFF2-40B4-BE49-F238E27FC236}">
                <a16:creationId xmlns:a16="http://schemas.microsoft.com/office/drawing/2014/main" id="{97224C31-855E-4593-8A58-5B2B0CC4F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355024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2992B7-DFB7-B10E-0B4E-3B788B96061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CF5E676-CA04-4CED-9F1E-5026ED66E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2833068" cy="2997599"/>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2" name="Freeform: Shape 11">
            <a:extLst>
              <a:ext uri="{FF2B5EF4-FFF2-40B4-BE49-F238E27FC236}">
                <a16:creationId xmlns:a16="http://schemas.microsoft.com/office/drawing/2014/main" id="{AFD1189F-9598-4281-8056-2845388D4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3068" cy="2997599"/>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4" name="Freeform: Shape 13">
            <a:extLst>
              <a:ext uri="{FF2B5EF4-FFF2-40B4-BE49-F238E27FC236}">
                <a16:creationId xmlns:a16="http://schemas.microsoft.com/office/drawing/2014/main" id="{583E04E1-D74F-4ED6-972C-035F4FEC4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Rectangle 17">
            <a:extLst>
              <a:ext uri="{FF2B5EF4-FFF2-40B4-BE49-F238E27FC236}">
                <a16:creationId xmlns:a16="http://schemas.microsoft.com/office/drawing/2014/main" id="{E51A97D9-C694-4307-818B-0C5BBF413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21053" y="819446"/>
            <a:ext cx="6964685" cy="5402463"/>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21053" y="819446"/>
            <a:ext cx="6964685" cy="5402463"/>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DE96824-E506-4448-8704-5EC7BF7BC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13658" y="727769"/>
            <a:ext cx="6964685" cy="5402463"/>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545794-4CAC-AA7A-96B9-3F6F1BBA6255}"/>
              </a:ext>
            </a:extLst>
          </p:cNvPr>
          <p:cNvSpPr>
            <a:spLocks noGrp="1"/>
          </p:cNvSpPr>
          <p:nvPr>
            <p:ph type="ctrTitle"/>
          </p:nvPr>
        </p:nvSpPr>
        <p:spPr>
          <a:xfrm>
            <a:off x="2833068" y="916352"/>
            <a:ext cx="6418471" cy="947921"/>
          </a:xfrm>
        </p:spPr>
        <p:txBody>
          <a:bodyPr>
            <a:normAutofit fontScale="90000"/>
          </a:bodyPr>
          <a:lstStyle/>
          <a:p>
            <a:r>
              <a:rPr lang="en-US" sz="5400" dirty="0">
                <a:solidFill>
                  <a:schemeClr val="bg1"/>
                </a:solidFill>
              </a:rPr>
              <a:t>Visualization Of Attack</a:t>
            </a:r>
          </a:p>
        </p:txBody>
      </p:sp>
      <p:sp>
        <p:nvSpPr>
          <p:cNvPr id="3" name="Subtitle 2">
            <a:extLst>
              <a:ext uri="{FF2B5EF4-FFF2-40B4-BE49-F238E27FC236}">
                <a16:creationId xmlns:a16="http://schemas.microsoft.com/office/drawing/2014/main" id="{90FBDFE6-D3AD-5557-A856-8B89672341AB}"/>
              </a:ext>
            </a:extLst>
          </p:cNvPr>
          <p:cNvSpPr>
            <a:spLocks noGrp="1"/>
          </p:cNvSpPr>
          <p:nvPr>
            <p:ph type="subTitle" idx="1"/>
          </p:nvPr>
        </p:nvSpPr>
        <p:spPr>
          <a:xfrm>
            <a:off x="2886764" y="5516490"/>
            <a:ext cx="6418471" cy="409162"/>
          </a:xfrm>
        </p:spPr>
        <p:txBody>
          <a:bodyPr>
            <a:normAutofit/>
          </a:bodyPr>
          <a:lstStyle/>
          <a:p>
            <a:r>
              <a:rPr lang="en-US" sz="2000" dirty="0">
                <a:solidFill>
                  <a:schemeClr val="bg1"/>
                </a:solidFill>
              </a:rPr>
              <a:t>Diagram from source [2]</a:t>
            </a:r>
          </a:p>
        </p:txBody>
      </p:sp>
      <p:sp>
        <p:nvSpPr>
          <p:cNvPr id="24" name="Freeform: Shape 23">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776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dirty="0"/>
          </a:p>
        </p:txBody>
      </p:sp>
      <p:sp>
        <p:nvSpPr>
          <p:cNvPr id="26" name="Graphic 212">
            <a:extLst>
              <a:ext uri="{FF2B5EF4-FFF2-40B4-BE49-F238E27FC236}">
                <a16:creationId xmlns:a16="http://schemas.microsoft.com/office/drawing/2014/main" id="{4FB204DF-284E-45F6-A017-79A4DF57B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75326" y="343675"/>
            <a:ext cx="768186" cy="76818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8" name="Graphic 212">
            <a:extLst>
              <a:ext uri="{FF2B5EF4-FFF2-40B4-BE49-F238E27FC236}">
                <a16:creationId xmlns:a16="http://schemas.microsoft.com/office/drawing/2014/main" id="{5EC6B544-8C84-47A6-885D-A4F09EF5C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75326" y="343675"/>
            <a:ext cx="768186" cy="76818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0" name="Freeform: Shape 29">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6750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dirty="0"/>
          </a:p>
        </p:txBody>
      </p:sp>
      <p:sp>
        <p:nvSpPr>
          <p:cNvPr id="32" name="Oval 31">
            <a:extLst>
              <a:ext uri="{FF2B5EF4-FFF2-40B4-BE49-F238E27FC236}">
                <a16:creationId xmlns:a16="http://schemas.microsoft.com/office/drawing/2014/main" id="{32C95C5C-6FBD-47FF-9CA6-066193539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7140" y="5100276"/>
            <a:ext cx="515928" cy="515928"/>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4" name="Oval 33">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7140" y="5100276"/>
            <a:ext cx="515928" cy="51592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6"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37" name="Freeform: Shape 36">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pic>
        <p:nvPicPr>
          <p:cNvPr id="5" name="Picture 4" descr="A diagram of a diagram&#10;&#10;AI-generated content may be incorrect.">
            <a:extLst>
              <a:ext uri="{FF2B5EF4-FFF2-40B4-BE49-F238E27FC236}">
                <a16:creationId xmlns:a16="http://schemas.microsoft.com/office/drawing/2014/main" id="{D96491CF-085E-7BA7-6483-B5065DE09A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1327" y="2272583"/>
            <a:ext cx="4969343" cy="3085657"/>
          </a:xfrm>
          <a:prstGeom prst="rect">
            <a:avLst/>
          </a:prstGeom>
        </p:spPr>
      </p:pic>
    </p:spTree>
    <p:extLst>
      <p:ext uri="{BB962C8B-B14F-4D97-AF65-F5344CB8AC3E}">
        <p14:creationId xmlns:p14="http://schemas.microsoft.com/office/powerpoint/2010/main" val="4087409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8CBE56-EE82-8147-67FD-75F98969D1C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B646C36-EEEC-4D52-8E8E-206F4CD8A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cap="all" spc="600" dirty="0"/>
          </a:p>
        </p:txBody>
      </p:sp>
      <p:grpSp>
        <p:nvGrpSpPr>
          <p:cNvPr id="10" name="Group 9">
            <a:extLst>
              <a:ext uri="{FF2B5EF4-FFF2-40B4-BE49-F238E27FC236}">
                <a16:creationId xmlns:a16="http://schemas.microsoft.com/office/drawing/2014/main" id="{E7E9D86A-D513-48F9-851A-5F3725E800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1565" y="330817"/>
            <a:ext cx="4833901" cy="5995583"/>
            <a:chOff x="1754444" y="330817"/>
            <a:chExt cx="4833901" cy="5995583"/>
          </a:xfrm>
        </p:grpSpPr>
        <p:sp>
          <p:nvSpPr>
            <p:cNvPr id="11" name="Rectangle 10">
              <a:extLst>
                <a:ext uri="{FF2B5EF4-FFF2-40B4-BE49-F238E27FC236}">
                  <a16:creationId xmlns:a16="http://schemas.microsoft.com/office/drawing/2014/main" id="{8258443E-B333-44F4-8D49-1EAB1C1A4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54444" y="330817"/>
              <a:ext cx="4833901" cy="5995583"/>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9132A4E-0C09-40DA-A360-EA9D3DAFF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54444" y="330817"/>
              <a:ext cx="4833901" cy="5995583"/>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D649D88F-3460-4C52-888E-001C62B26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1649" y="213740"/>
            <a:ext cx="4833901" cy="5995583"/>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43D45B-B5D4-4FCD-D1B8-A5A8CE18FFAA}"/>
              </a:ext>
            </a:extLst>
          </p:cNvPr>
          <p:cNvSpPr>
            <a:spLocks noGrp="1"/>
          </p:cNvSpPr>
          <p:nvPr>
            <p:ph type="ctrTitle"/>
          </p:nvPr>
        </p:nvSpPr>
        <p:spPr>
          <a:xfrm>
            <a:off x="2026693" y="510803"/>
            <a:ext cx="4069306" cy="1477654"/>
          </a:xfrm>
        </p:spPr>
        <p:txBody>
          <a:bodyPr anchor="ctr">
            <a:normAutofit fontScale="90000"/>
          </a:bodyPr>
          <a:lstStyle/>
          <a:p>
            <a:r>
              <a:rPr lang="en-US" sz="5400" dirty="0">
                <a:solidFill>
                  <a:schemeClr val="bg1"/>
                </a:solidFill>
              </a:rPr>
              <a:t>Example of Attack</a:t>
            </a:r>
          </a:p>
        </p:txBody>
      </p:sp>
      <p:sp>
        <p:nvSpPr>
          <p:cNvPr id="16" name="Freeform: Shape 15">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Freeform: Shape 17">
            <a:extLst>
              <a:ext uri="{FF2B5EF4-FFF2-40B4-BE49-F238E27FC236}">
                <a16:creationId xmlns:a16="http://schemas.microsoft.com/office/drawing/2014/main" id="{217DD14E-3BC7-413D-B4AB-B92EED2F5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 name="Subtitle 2">
            <a:extLst>
              <a:ext uri="{FF2B5EF4-FFF2-40B4-BE49-F238E27FC236}">
                <a16:creationId xmlns:a16="http://schemas.microsoft.com/office/drawing/2014/main" id="{F570249C-4200-7504-9409-0975885EA530}"/>
              </a:ext>
            </a:extLst>
          </p:cNvPr>
          <p:cNvSpPr>
            <a:spLocks noGrp="1"/>
          </p:cNvSpPr>
          <p:nvPr>
            <p:ph type="subTitle" idx="1"/>
          </p:nvPr>
        </p:nvSpPr>
        <p:spPr>
          <a:xfrm>
            <a:off x="1741564" y="1878925"/>
            <a:ext cx="4583035" cy="3748314"/>
          </a:xfrm>
        </p:spPr>
        <p:txBody>
          <a:bodyPr>
            <a:noAutofit/>
          </a:bodyPr>
          <a:lstStyle/>
          <a:p>
            <a:pPr algn="l"/>
            <a:r>
              <a:rPr lang="en-US" sz="2000" b="1" dirty="0" err="1">
                <a:solidFill>
                  <a:schemeClr val="bg1"/>
                </a:solidFill>
              </a:rPr>
              <a:t>BlackNurse</a:t>
            </a:r>
            <a:r>
              <a:rPr lang="en-US" sz="2000" b="1" dirty="0">
                <a:solidFill>
                  <a:schemeClr val="bg1"/>
                </a:solidFill>
              </a:rPr>
              <a:t> attack </a:t>
            </a:r>
            <a:r>
              <a:rPr lang="en-US" sz="2000" dirty="0">
                <a:solidFill>
                  <a:schemeClr val="bg1"/>
                </a:solidFill>
              </a:rPr>
              <a:t>(2016) [1]</a:t>
            </a:r>
          </a:p>
          <a:p>
            <a:pPr algn="l"/>
            <a:r>
              <a:rPr lang="en-US" sz="2000" dirty="0">
                <a:solidFill>
                  <a:schemeClr val="bg1"/>
                </a:solidFill>
              </a:rPr>
              <a:t>In November 2016, researchers identified the </a:t>
            </a:r>
            <a:r>
              <a:rPr lang="en-US" sz="2000" b="1" dirty="0" err="1">
                <a:solidFill>
                  <a:schemeClr val="bg1"/>
                </a:solidFill>
              </a:rPr>
              <a:t>BlackNurse</a:t>
            </a:r>
            <a:r>
              <a:rPr lang="en-US" sz="2000" b="1" dirty="0">
                <a:solidFill>
                  <a:schemeClr val="bg1"/>
                </a:solidFill>
              </a:rPr>
              <a:t> attack</a:t>
            </a:r>
            <a:r>
              <a:rPr lang="en-US" sz="2000" dirty="0">
                <a:solidFill>
                  <a:schemeClr val="bg1"/>
                </a:solidFill>
              </a:rPr>
              <a:t>, a low-bandwidth ICMP-based Denial-of-Service (DoS) attack. In this attack, attackers sent ICMP Type 3 Code 3 (Destination Unreachable) packets to targeted devices. Vulnerable firewalls and routers, upon processing these packets, experienced high CPU loads, leading to degraded performance or complete network outages. The attack effectively caused the devices to drop legitimate packets, disrupting normal network operations.</a:t>
            </a:r>
          </a:p>
        </p:txBody>
      </p:sp>
      <p:sp>
        <p:nvSpPr>
          <p:cNvPr id="20" name="Graphic 212">
            <a:extLst>
              <a:ext uri="{FF2B5EF4-FFF2-40B4-BE49-F238E27FC236}">
                <a16:creationId xmlns:a16="http://schemas.microsoft.com/office/drawing/2014/main" id="{4FB204DF-284E-45F6-A017-79A4DF57B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798490"/>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6908275D-177E-42F2-8887-134AFE8B7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798490"/>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5340" y="5287341"/>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E32B36D4-0C87-4882-A12C-18A91DBAE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5340" y="5287341"/>
            <a:ext cx="319941" cy="31994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7" name="Audio 6">
            <a:hlinkClick r:id="" action="ppaction://media"/>
            <a:extLst>
              <a:ext uri="{FF2B5EF4-FFF2-40B4-BE49-F238E27FC236}">
                <a16:creationId xmlns:a16="http://schemas.microsoft.com/office/drawing/2014/main" id="{D6BCAB31-B27F-43A4-17CC-2FA7E59E7802}"/>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990822862"/>
      </p:ext>
    </p:extLst>
  </p:cSld>
  <p:clrMapOvr>
    <a:masterClrMapping/>
  </p:clrMapOvr>
  <mc:AlternateContent xmlns:mc="http://schemas.openxmlformats.org/markup-compatibility/2006" xmlns:p14="http://schemas.microsoft.com/office/powerpoint/2010/main">
    <mc:Choice Requires="p14">
      <p:transition spd="slow" p14:dur="2000" advTm="2550"/>
    </mc:Choice>
    <mc:Fallback xmlns="">
      <p:transition spd="slow" advTm="2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FEDE9D-FB94-9547-7613-76E55501EAE0}"/>
            </a:ext>
          </a:extLst>
        </p:cNvPr>
        <p:cNvGrpSpPr/>
        <p:nvPr/>
      </p:nvGrpSpPr>
      <p:grpSpPr>
        <a:xfrm>
          <a:off x="0" y="0"/>
          <a:ext cx="0" cy="0"/>
          <a:chOff x="0" y="0"/>
          <a:chExt cx="0" cy="0"/>
        </a:xfrm>
      </p:grpSpPr>
      <p:sp>
        <p:nvSpPr>
          <p:cNvPr id="72" name="Rectangle 71">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61EE49F-F5F8-09AE-D8DA-60F55CA5D16A}"/>
              </a:ext>
            </a:extLst>
          </p:cNvPr>
          <p:cNvSpPr>
            <a:spLocks noGrp="1"/>
          </p:cNvSpPr>
          <p:nvPr>
            <p:ph type="ctrTitle"/>
          </p:nvPr>
        </p:nvSpPr>
        <p:spPr>
          <a:xfrm>
            <a:off x="2155595" y="199202"/>
            <a:ext cx="3553510" cy="902303"/>
          </a:xfrm>
        </p:spPr>
        <p:txBody>
          <a:bodyPr vert="horz" lIns="91440" tIns="45720" rIns="91440" bIns="45720" rtlCol="0" anchor="ctr">
            <a:normAutofit/>
          </a:bodyPr>
          <a:lstStyle/>
          <a:p>
            <a:r>
              <a:rPr lang="en-US" sz="4400" kern="1200" dirty="0">
                <a:solidFill>
                  <a:schemeClr val="bg1"/>
                </a:solidFill>
                <a:latin typeface="+mj-lt"/>
                <a:ea typeface="+mj-ea"/>
                <a:cs typeface="+mj-cs"/>
              </a:rPr>
              <a:t>Bibliography</a:t>
            </a:r>
          </a:p>
        </p:txBody>
      </p:sp>
      <p:grpSp>
        <p:nvGrpSpPr>
          <p:cNvPr id="74" name="Graphic 38">
            <a:extLst>
              <a:ext uri="{FF2B5EF4-FFF2-40B4-BE49-F238E27FC236}">
                <a16:creationId xmlns:a16="http://schemas.microsoft.com/office/drawing/2014/main" id="{1E8369D0-2C3B-4E27-AC6C-A246AC28C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75" name="Freeform: Shape 74">
              <a:extLst>
                <a:ext uri="{FF2B5EF4-FFF2-40B4-BE49-F238E27FC236}">
                  <a16:creationId xmlns:a16="http://schemas.microsoft.com/office/drawing/2014/main" id="{A3D5586F-4573-4C57-9793-1EBFDC896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5EED35EF-93A0-4921-941C-ECC67AE2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78" name="Graphic 4">
            <a:extLst>
              <a:ext uri="{FF2B5EF4-FFF2-40B4-BE49-F238E27FC236}">
                <a16:creationId xmlns:a16="http://schemas.microsoft.com/office/drawing/2014/main" id="{C6F74901-2A71-43C3-837C-27CCD6B6D6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37426" y="2203010"/>
            <a:ext cx="975169" cy="975171"/>
            <a:chOff x="5829300" y="3162300"/>
            <a:chExt cx="532256" cy="532257"/>
          </a:xfrm>
          <a:solidFill>
            <a:schemeClr val="bg1"/>
          </a:solidFill>
        </p:grpSpPr>
        <p:sp>
          <p:nvSpPr>
            <p:cNvPr id="79" name="Freeform: Shape 78">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517B7142-9D64-4D34-B23C-9471326AD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E8EB71CD-AB26-440E-A0D5-E1081DB5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4423BD2-7458-4680-AF49-5013C9D30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sp>
        <p:nvSpPr>
          <p:cNvPr id="93" name="Oval 92">
            <a:extLst>
              <a:ext uri="{FF2B5EF4-FFF2-40B4-BE49-F238E27FC236}">
                <a16:creationId xmlns:a16="http://schemas.microsoft.com/office/drawing/2014/main" id="{EC11F68A-CC71-4196-BBF3-20CDCD75D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502"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5" name="Oval 94">
            <a:extLst>
              <a:ext uri="{FF2B5EF4-FFF2-40B4-BE49-F238E27FC236}">
                <a16:creationId xmlns:a16="http://schemas.microsoft.com/office/drawing/2014/main" id="{085F9950-F10E-4E64-962B-F7034578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502" y="4752208"/>
            <a:ext cx="365021" cy="36502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3">
            <a:extLst>
              <a:ext uri="{FF2B5EF4-FFF2-40B4-BE49-F238E27FC236}">
                <a16:creationId xmlns:a16="http://schemas.microsoft.com/office/drawing/2014/main" id="{8E672634-2629-C0BA-8424-47637C6D8BE7}"/>
              </a:ext>
            </a:extLst>
          </p:cNvPr>
          <p:cNvSpPr>
            <a:spLocks noGrp="1" noChangeArrowheads="1"/>
          </p:cNvSpPr>
          <p:nvPr>
            <p:ph type="subTitle" idx="1"/>
          </p:nvPr>
        </p:nvSpPr>
        <p:spPr bwMode="auto">
          <a:xfrm>
            <a:off x="357966" y="1101505"/>
            <a:ext cx="11476068" cy="515093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228600" indent="-457200" algn="l" fontAlgn="base">
              <a:spcBef>
                <a:spcPct val="0"/>
              </a:spcBef>
              <a:spcAft>
                <a:spcPts val="600"/>
              </a:spcAft>
              <a:buFont typeface="+mj-lt"/>
              <a:buAutoNum type="arabicPeriod"/>
            </a:pPr>
            <a:r>
              <a:rPr lang="en-US" sz="2000" b="1" dirty="0">
                <a:solidFill>
                  <a:schemeClr val="bg1"/>
                </a:solidFill>
              </a:rPr>
              <a:t>European Union Agency for Cybersecurity (ENISA).</a:t>
            </a:r>
            <a:r>
              <a:rPr lang="en-US" sz="2000" dirty="0">
                <a:solidFill>
                  <a:schemeClr val="bg1"/>
                </a:solidFill>
              </a:rPr>
              <a:t> (2016). </a:t>
            </a:r>
            <a:r>
              <a:rPr lang="en-US" sz="2000" i="1" dirty="0" err="1">
                <a:solidFill>
                  <a:schemeClr val="bg1"/>
                </a:solidFill>
              </a:rPr>
              <a:t>BlackNurse</a:t>
            </a:r>
            <a:r>
              <a:rPr lang="en-US" sz="2000" i="1" dirty="0">
                <a:solidFill>
                  <a:schemeClr val="bg1"/>
                </a:solidFill>
              </a:rPr>
              <a:t> - ICMP-Based Denial of Service Attack.</a:t>
            </a:r>
            <a:r>
              <a:rPr lang="en-US" sz="2000" dirty="0">
                <a:solidFill>
                  <a:schemeClr val="bg1"/>
                </a:solidFill>
              </a:rPr>
              <a:t> CERT-EU Security Advisory. Retrieved from </a:t>
            </a:r>
            <a:r>
              <a:rPr lang="en-US" sz="2000" dirty="0">
                <a:solidFill>
                  <a:schemeClr val="bg1"/>
                </a:solidFill>
                <a:hlinkClick r:id="rId2">
                  <a:extLst>
                    <a:ext uri="{A12FA001-AC4F-418D-AE19-62706E023703}">
                      <ahyp:hlinkClr xmlns:ahyp="http://schemas.microsoft.com/office/drawing/2018/hyperlinkcolor" val="tx"/>
                    </a:ext>
                  </a:extLst>
                </a:hlinkClick>
              </a:rPr>
              <a:t>https://cert.europa.eu/publications/security-advisories/2016-141/pdf</a:t>
            </a:r>
            <a:endParaRPr lang="en-US" sz="2000" dirty="0">
              <a:solidFill>
                <a:schemeClr val="bg1"/>
              </a:solidFill>
            </a:endParaRPr>
          </a:p>
          <a:p>
            <a:pPr marL="228600" indent="-457200" algn="l" fontAlgn="base">
              <a:spcBef>
                <a:spcPct val="0"/>
              </a:spcBef>
              <a:spcAft>
                <a:spcPts val="600"/>
              </a:spcAft>
              <a:buFont typeface="+mj-lt"/>
              <a:buAutoNum type="arabicPeriod"/>
            </a:pPr>
            <a:endParaRPr kumimoji="0" lang="en-US" altLang="en-US" sz="2000" b="0" i="0" u="none" strike="noStrike" cap="none" normalizeH="0" baseline="0" dirty="0">
              <a:ln>
                <a:noFill/>
              </a:ln>
              <a:solidFill>
                <a:schemeClr val="bg1"/>
              </a:solidFill>
              <a:effectLst/>
            </a:endParaRPr>
          </a:p>
          <a:p>
            <a:pPr marL="228600" marR="0" lvl="0" indent="-457200" algn="l" fontAlgn="base">
              <a:spcBef>
                <a:spcPct val="0"/>
              </a:spcBef>
              <a:spcAft>
                <a:spcPts val="600"/>
              </a:spcAft>
              <a:buClrTx/>
              <a:buSzTx/>
              <a:buFont typeface="+mj-lt"/>
              <a:buAutoNum type="arabicPeriod"/>
              <a:tabLst/>
            </a:pPr>
            <a:r>
              <a:rPr lang="en-US" sz="2000" dirty="0">
                <a:solidFill>
                  <a:schemeClr val="bg1"/>
                </a:solidFill>
              </a:rPr>
              <a:t>ScienceDirect. (n.d.). </a:t>
            </a:r>
            <a:r>
              <a:rPr lang="en-US" sz="2000" i="1" dirty="0">
                <a:solidFill>
                  <a:schemeClr val="bg1"/>
                </a:solidFill>
              </a:rPr>
              <a:t>Black hole attack</a:t>
            </a:r>
            <a:r>
              <a:rPr lang="en-US" sz="2000" dirty="0">
                <a:solidFill>
                  <a:schemeClr val="bg1"/>
                </a:solidFill>
              </a:rPr>
              <a:t>. Retrieved February 18, 2025, from </a:t>
            </a:r>
            <a:r>
              <a:rPr lang="en-US" sz="2000" dirty="0">
                <a:solidFill>
                  <a:schemeClr val="bg1"/>
                </a:solidFill>
                <a:hlinkClick r:id="rId3">
                  <a:extLst>
                    <a:ext uri="{A12FA001-AC4F-418D-AE19-62706E023703}">
                      <ahyp:hlinkClr xmlns:ahyp="http://schemas.microsoft.com/office/drawing/2018/hyperlinkcolor" val="tx"/>
                    </a:ext>
                  </a:extLst>
                </a:hlinkClick>
              </a:rPr>
              <a:t>https://www.sciencedirect.com/topics/computer-science/black-hole-attack</a:t>
            </a:r>
            <a:endParaRPr lang="en-US" sz="2000" dirty="0">
              <a:solidFill>
                <a:schemeClr val="bg1"/>
              </a:solidFill>
            </a:endParaRPr>
          </a:p>
          <a:p>
            <a:pPr marL="228600" marR="0" lvl="0" indent="-457200" algn="l" fontAlgn="base">
              <a:spcBef>
                <a:spcPct val="0"/>
              </a:spcBef>
              <a:spcAft>
                <a:spcPts val="600"/>
              </a:spcAft>
              <a:buClrTx/>
              <a:buSzTx/>
              <a:buFont typeface="+mj-lt"/>
              <a:buAutoNum type="arabicPeriod"/>
              <a:tabLst/>
            </a:pPr>
            <a:endParaRPr kumimoji="0" lang="en-US" altLang="en-US" sz="2000" b="0" i="0" u="none" strike="noStrike" cap="none" normalizeH="0" baseline="0" dirty="0">
              <a:ln>
                <a:noFill/>
              </a:ln>
              <a:solidFill>
                <a:schemeClr val="bg1"/>
              </a:solidFill>
              <a:effectLst/>
            </a:endParaRPr>
          </a:p>
          <a:p>
            <a:pPr marL="228600" marR="0" lvl="0" indent="-457200" algn="l" fontAlgn="base">
              <a:spcBef>
                <a:spcPct val="0"/>
              </a:spcBef>
              <a:spcAft>
                <a:spcPts val="600"/>
              </a:spcAft>
              <a:buClrTx/>
              <a:buSzTx/>
              <a:buFont typeface="+mj-lt"/>
              <a:buAutoNum type="arabicPeriod"/>
              <a:tabLst/>
            </a:pPr>
            <a:r>
              <a:rPr lang="en-US" sz="2000" b="1" dirty="0">
                <a:solidFill>
                  <a:schemeClr val="bg1"/>
                </a:solidFill>
              </a:rPr>
              <a:t>Gremlin.</a:t>
            </a:r>
            <a:r>
              <a:rPr lang="en-US" sz="2000" dirty="0">
                <a:solidFill>
                  <a:schemeClr val="bg1"/>
                </a:solidFill>
              </a:rPr>
              <a:t> (2022, January 20). </a:t>
            </a:r>
            <a:r>
              <a:rPr lang="en-US" sz="2000" i="1" dirty="0">
                <a:solidFill>
                  <a:schemeClr val="bg1"/>
                </a:solidFill>
              </a:rPr>
              <a:t>Getting started with Blackhole attacks.</a:t>
            </a:r>
            <a:r>
              <a:rPr lang="en-US" sz="2000" dirty="0">
                <a:solidFill>
                  <a:schemeClr val="bg1"/>
                </a:solidFill>
              </a:rPr>
              <a:t> Gremlin. Retrieved February 18, 2025, from </a:t>
            </a:r>
            <a:r>
              <a:rPr lang="en-US" sz="2000" dirty="0">
                <a:solidFill>
                  <a:schemeClr val="bg1"/>
                </a:solidFill>
                <a:hlinkClick r:id="rId4">
                  <a:extLst>
                    <a:ext uri="{A12FA001-AC4F-418D-AE19-62706E023703}">
                      <ahyp:hlinkClr xmlns:ahyp="http://schemas.microsoft.com/office/drawing/2018/hyperlinkcolor" val="tx"/>
                    </a:ext>
                  </a:extLst>
                </a:hlinkClick>
              </a:rPr>
              <a:t>https://www.gremlin.com/blog/getting-started-with-blackhole-attacks</a:t>
            </a:r>
            <a:endParaRPr lang="en-US" sz="2000" dirty="0">
              <a:solidFill>
                <a:schemeClr val="bg1"/>
              </a:solidFill>
            </a:endParaRPr>
          </a:p>
          <a:p>
            <a:pPr marL="228600" marR="0" lvl="0" indent="-457200" algn="l" fontAlgn="base">
              <a:spcBef>
                <a:spcPct val="0"/>
              </a:spcBef>
              <a:spcAft>
                <a:spcPts val="600"/>
              </a:spcAft>
              <a:buClrTx/>
              <a:buSzTx/>
              <a:buFont typeface="+mj-lt"/>
              <a:buAutoNum type="arabicPeriod"/>
              <a:tabLst/>
            </a:pPr>
            <a:endParaRPr kumimoji="0" lang="en-US" altLang="en-US" sz="2000" b="0" i="0" u="none" strike="noStrike" cap="none" normalizeH="0" baseline="0" dirty="0">
              <a:ln>
                <a:noFill/>
              </a:ln>
              <a:solidFill>
                <a:schemeClr val="bg1"/>
              </a:solidFill>
              <a:effectLst/>
            </a:endParaRPr>
          </a:p>
          <a:p>
            <a:pPr marL="228600" marR="0" lvl="0" indent="-457200" algn="l" fontAlgn="base">
              <a:spcBef>
                <a:spcPct val="0"/>
              </a:spcBef>
              <a:spcAft>
                <a:spcPts val="600"/>
              </a:spcAft>
              <a:buClrTx/>
              <a:buSzTx/>
              <a:buFont typeface="+mj-lt"/>
              <a:buAutoNum type="arabicPeriod"/>
              <a:tabLst/>
            </a:pPr>
            <a:r>
              <a:rPr lang="en-US" sz="2000" b="1" dirty="0" err="1">
                <a:solidFill>
                  <a:schemeClr val="bg1"/>
                </a:solidFill>
              </a:rPr>
              <a:t>EduBirdie</a:t>
            </a:r>
            <a:r>
              <a:rPr lang="en-US" sz="2000" b="1" dirty="0">
                <a:solidFill>
                  <a:schemeClr val="bg1"/>
                </a:solidFill>
              </a:rPr>
              <a:t>.</a:t>
            </a:r>
            <a:r>
              <a:rPr lang="en-US" sz="2000" dirty="0">
                <a:solidFill>
                  <a:schemeClr val="bg1"/>
                </a:solidFill>
              </a:rPr>
              <a:t> (2023, April 24). </a:t>
            </a:r>
            <a:r>
              <a:rPr lang="en-US" sz="2000" i="1" dirty="0">
                <a:solidFill>
                  <a:schemeClr val="bg1"/>
                </a:solidFill>
              </a:rPr>
              <a:t>Black hole attack, its detection and mitigation</a:t>
            </a:r>
            <a:r>
              <a:rPr lang="en-US" sz="2000" dirty="0">
                <a:solidFill>
                  <a:schemeClr val="bg1"/>
                </a:solidFill>
              </a:rPr>
              <a:t>. </a:t>
            </a:r>
            <a:r>
              <a:rPr lang="en-US" sz="2000" dirty="0" err="1">
                <a:solidFill>
                  <a:schemeClr val="bg1"/>
                </a:solidFill>
              </a:rPr>
              <a:t>EduBirdie</a:t>
            </a:r>
            <a:r>
              <a:rPr lang="en-US" sz="2000" dirty="0">
                <a:solidFill>
                  <a:schemeClr val="bg1"/>
                </a:solidFill>
              </a:rPr>
              <a:t>. Retrieved February 18, 2025, from </a:t>
            </a:r>
            <a:r>
              <a:rPr lang="en-US" sz="2000" dirty="0">
                <a:solidFill>
                  <a:schemeClr val="bg1"/>
                </a:solidFill>
                <a:hlinkClick r:id="rId5">
                  <a:extLst>
                    <a:ext uri="{A12FA001-AC4F-418D-AE19-62706E023703}">
                      <ahyp:hlinkClr xmlns:ahyp="http://schemas.microsoft.com/office/drawing/2018/hyperlinkcolor" val="tx"/>
                    </a:ext>
                  </a:extLst>
                </a:hlinkClick>
              </a:rPr>
              <a:t>https://edubirdie.com/examples/black-hole-attack-its-detection-and-mitigation/</a:t>
            </a:r>
            <a:endParaRPr lang="en-US" sz="2000" dirty="0">
              <a:solidFill>
                <a:schemeClr val="bg1"/>
              </a:solidFill>
            </a:endParaRPr>
          </a:p>
          <a:p>
            <a:pPr marL="228600" marR="0" lvl="0" indent="-457200" algn="l" fontAlgn="base">
              <a:spcBef>
                <a:spcPct val="0"/>
              </a:spcBef>
              <a:spcAft>
                <a:spcPts val="600"/>
              </a:spcAft>
              <a:buClrTx/>
              <a:buSzTx/>
              <a:buFont typeface="+mj-lt"/>
              <a:buAutoNum type="arabicPeriod"/>
              <a:tabLst/>
            </a:pPr>
            <a:endParaRPr kumimoji="0" lang="en-US" altLang="en-US" sz="2000" b="0" i="0" u="none" strike="noStrike" cap="none" normalizeH="0" baseline="0" dirty="0">
              <a:ln>
                <a:noFill/>
              </a:ln>
              <a:solidFill>
                <a:schemeClr val="bg1"/>
              </a:solidFill>
              <a:effectLst/>
            </a:endParaRPr>
          </a:p>
          <a:p>
            <a:pPr marL="228600" marR="0" lvl="0" indent="-457200" algn="l" fontAlgn="base">
              <a:spcBef>
                <a:spcPct val="0"/>
              </a:spcBef>
              <a:spcAft>
                <a:spcPts val="600"/>
              </a:spcAft>
              <a:buClrTx/>
              <a:buSzTx/>
              <a:buFont typeface="+mj-lt"/>
              <a:buAutoNum type="arabicPeriod"/>
              <a:tabLst/>
            </a:pPr>
            <a:r>
              <a:rPr lang="en-US" sz="2000" b="1" dirty="0">
                <a:solidFill>
                  <a:schemeClr val="bg1"/>
                </a:solidFill>
              </a:rPr>
              <a:t>MS Codes.</a:t>
            </a:r>
            <a:r>
              <a:rPr lang="en-US" sz="2000" dirty="0">
                <a:solidFill>
                  <a:schemeClr val="bg1"/>
                </a:solidFill>
              </a:rPr>
              <a:t> (n.d.). </a:t>
            </a:r>
            <a:r>
              <a:rPr lang="en-US" sz="2000" i="1" dirty="0">
                <a:solidFill>
                  <a:schemeClr val="bg1"/>
                </a:solidFill>
              </a:rPr>
              <a:t>Black hole attack in network security</a:t>
            </a:r>
            <a:r>
              <a:rPr lang="en-US" sz="2000" dirty="0">
                <a:solidFill>
                  <a:schemeClr val="bg1"/>
                </a:solidFill>
              </a:rPr>
              <a:t>. MS Codes. Retrieved February 18, 2025, from </a:t>
            </a:r>
            <a:r>
              <a:rPr lang="en-US" sz="2000" dirty="0">
                <a:solidFill>
                  <a:schemeClr val="bg1"/>
                </a:solidFill>
                <a:hlinkClick r:id="rId6">
                  <a:extLst>
                    <a:ext uri="{A12FA001-AC4F-418D-AE19-62706E023703}">
                      <ahyp:hlinkClr xmlns:ahyp="http://schemas.microsoft.com/office/drawing/2018/hyperlinkcolor" val="tx"/>
                    </a:ext>
                  </a:extLst>
                </a:hlinkClick>
              </a:rPr>
              <a:t>https://ms.codes/blogs/internet-security/black-hole-attack-in-network-security</a:t>
            </a:r>
            <a:endParaRPr kumimoji="0" lang="en-US" altLang="en-US" sz="2000" b="0" i="0"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2338784567"/>
      </p:ext>
    </p:extLst>
  </p:cSld>
  <p:clrMapOvr>
    <a:masterClrMapping/>
  </p:clrMapOvr>
  <mc:AlternateContent xmlns:mc="http://schemas.openxmlformats.org/markup-compatibility/2006" xmlns:p14="http://schemas.microsoft.com/office/powerpoint/2010/main">
    <mc:Choice Requires="p14">
      <p:transition spd="slow" p14:dur="2000" advTm="162"/>
    </mc:Choice>
    <mc:Fallback xmlns="">
      <p:transition spd="slow" advTm="162"/>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350</Words>
  <Application>Microsoft Office PowerPoint</Application>
  <PresentationFormat>Widescreen</PresentationFormat>
  <Paragraphs>30</Paragraphs>
  <Slides>6</Slides>
  <Notes>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Blackhole Attacks</vt:lpstr>
      <vt:lpstr>Type of Attack</vt:lpstr>
      <vt:lpstr>How it works</vt:lpstr>
      <vt:lpstr>Visualization Of Attack</vt:lpstr>
      <vt:lpstr>Example of Attack</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Stallkamp</dc:creator>
  <cp:lastModifiedBy>James Stallkamp</cp:lastModifiedBy>
  <cp:revision>6</cp:revision>
  <dcterms:created xsi:type="dcterms:W3CDTF">2025-02-17T00:43:35Z</dcterms:created>
  <dcterms:modified xsi:type="dcterms:W3CDTF">2025-02-19T06:32:09Z</dcterms:modified>
</cp:coreProperties>
</file>